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(flat run rate)</c:v>
                </c:pt>
              </c:strCache>
            </c:strRef>
          </c:tx>
          <c:spPr>
            <a:solidFill>
              <a:srgbClr val="B8C0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Over 6</c:v>
                  </c:pt>
                  <c:pt idx="1">
                    <c:v>Over 10</c:v>
                  </c:pt>
                  <c:pt idx="2">
                    <c:v>Over 12</c:v>
                  </c:pt>
                  <c:pt idx="3">
                    <c:v>Over 15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34.37</c:v>
                </c:pt>
                <c:pt idx="1">
                  <c:v>25.34</c:v>
                </c:pt>
                <c:pt idx="2">
                  <c:v>22.07</c:v>
                </c:pt>
                <c:pt idx="3">
                  <c:v>17.68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Gradient boosting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Over 6</c:v>
                  </c:pt>
                  <c:pt idx="1">
                    <c:v>Over 10</c:v>
                  </c:pt>
                  <c:pt idx="2">
                    <c:v>Over 12</c:v>
                  </c:pt>
                  <c:pt idx="3">
                    <c:v>Over 15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20.74</c:v>
                </c:pt>
                <c:pt idx="1">
                  <c:v>18.24</c:v>
                </c:pt>
                <c:pt idx="2">
                  <c:v>16.49</c:v>
                </c:pt>
                <c:pt idx="3">
                  <c:v>13.75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22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RMSE (runs)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runs_so_far</c:v>
                </c:pt>
              </c:strCache>
            </c:strRef>
          </c:tx>
          <c:spPr>
            <a:solidFill>
              <a:srgbClr val="E07A1F"/>
            </a:solidFill>
            <a:ln w="38100" cap="flat">
              <a:solidFill>
                <a:srgbClr val="E07A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07A1F"/>
              </a:solidFill>
              <a:ln w="9525" cap="flat">
                <a:solidFill>
                  <a:srgbClr val="E07A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Over 6</c:v>
                  </c:pt>
                  <c:pt idx="1">
                    <c:v>Over 10</c:v>
                  </c:pt>
                  <c:pt idx="2">
                    <c:v>Over 12</c:v>
                  </c:pt>
                  <c:pt idx="3">
                    <c:v>Over 15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9.23</c:v>
                </c:pt>
                <c:pt idx="1">
                  <c:v>12</c:v>
                </c:pt>
                <c:pt idx="2">
                  <c:v>12.84</c:v>
                </c:pt>
                <c:pt idx="3">
                  <c:v>14.83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wickets_down</c:v>
                </c:pt>
              </c:strCache>
            </c:strRef>
          </c:tx>
          <c:spPr>
            <a:solidFill>
              <a:srgbClr val="14213D"/>
            </a:solidFill>
            <a:ln w="381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Over 6</c:v>
                  </c:pt>
                  <c:pt idx="1">
                    <c:v>Over 10</c:v>
                  </c:pt>
                  <c:pt idx="2">
                    <c:v>Over 12</c:v>
                  </c:pt>
                  <c:pt idx="3">
                    <c:v>Over 15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4.29</c:v>
                </c:pt>
                <c:pt idx="1">
                  <c:v>3.51</c:v>
                </c:pt>
                <c:pt idx="2">
                  <c:v>3.13</c:v>
                </c:pt>
                <c:pt idx="3">
                  <c:v>2.39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balls_since_boundary</c:v>
                </c:pt>
              </c:strCache>
            </c:strRef>
          </c:tx>
          <c:spPr>
            <a:solidFill>
              <a:srgbClr val="7FA7C9"/>
            </a:solidFill>
            <a:ln w="38100" cap="flat">
              <a:solidFill>
                <a:srgbClr val="7FA7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FA7C9"/>
              </a:solidFill>
              <a:ln w="9525" cap="flat">
                <a:solidFill>
                  <a:srgbClr val="7FA7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Over 6</c:v>
                  </c:pt>
                  <c:pt idx="1">
                    <c:v>Over 10</c:v>
                  </c:pt>
                  <c:pt idx="2">
                    <c:v>Over 12</c:v>
                  </c:pt>
                  <c:pt idx="3">
                    <c:v>Over 15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1.26</c:v>
                </c:pt>
                <c:pt idx="1">
                  <c:v>1.01</c:v>
                </c:pt>
                <c:pt idx="2">
                  <c:v>1.38</c:v>
                </c:pt>
                <c:pt idx="3">
                  <c:v>0.8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runs_last2</c:v>
                </c:pt>
              </c:strCache>
            </c:strRef>
          </c:tx>
          <c:spPr>
            <a:solidFill>
              <a:srgbClr val="9AA5B1"/>
            </a:solidFill>
            <a:ln w="38100" cap="flat">
              <a:solidFill>
                <a:srgbClr val="9AA5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5B1"/>
              </a:solidFill>
              <a:ln w="9525" cap="flat">
                <a:solidFill>
                  <a:srgbClr val="9AA5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Over 6</c:v>
                  </c:pt>
                  <c:pt idx="1">
                    <c:v>Over 10</c:v>
                  </c:pt>
                  <c:pt idx="2">
                    <c:v>Over 12</c:v>
                  </c:pt>
                  <c:pt idx="3">
                    <c:v>Over 15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2.27</c:v>
                </c:pt>
                <c:pt idx="1">
                  <c:v>0.99</c:v>
                </c:pt>
                <c:pt idx="2">
                  <c:v>0.79</c:v>
                </c:pt>
                <c:pt idx="3">
                  <c:v>0.82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mean |SHAP| (runs)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(runs)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Flat run rate</c:v>
                  </c:pt>
                  <c:pt idx="1">
                    <c:v>B1</c:v>
                  </c:pt>
                  <c:pt idx="2">
                    <c:v>B12 GBM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33.45</c:v>
                </c:pt>
                <c:pt idx="1">
                  <c:v>21.59</c:v>
                </c:pt>
                <c:pt idx="2">
                  <c:v>20.13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is looking at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of T20 score prediction at overs 6, 10, 12 and 15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1097280" cy="64008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B12, Track B  |  Muskan, Pooja, Kunal, Samarth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SRL scorecards, 383 matches, 10 seeds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165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SRL scorecards, 383 matches, 10 seeds   |   B12   |  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projected score is shown with total confidence and no reason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model said so" is not an answer a commentator can give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 supplies the reason, and shows how it changes through the innings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B12 hands 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SRL scorecards, 383 matches, 10 seeds   |   B12   |  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results/feature_importance.csv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27432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over_mark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wickets_down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|SHAP|, runs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runs_so_far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|SHAP|, runs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B1 (score at six) and B2 (checkpoint models). Extra column importance_std at the end.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checkpoints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SRL scorecards, 383 matches, 10 seeds   |   B12   |  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contract: matches, deliveries, checkpoints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 one innings at over 6, 10, 12 or 15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runs, wickets, balls since boundary, innings, plus last-2-over momentum from deliveries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current_run_rate: it is runs / over, so it splits SHAP credit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method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SRL scorecards, 383 matches, 10 seeds   |   B12   |   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current run rate held flat to over 20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gradient boosting, one per checkpoint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match, 10 seeds, report mean and spread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TreeExplainer: importance = mean |SHAP|, direction = sign of correlation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the baseline at every checkpoint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SRL scorecards, 383 matches, 10 seeds   |   B12   |  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0" y="137160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seeds, split by match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6: 34.37 to 20.74 runs, std about 1, far smaller than the gain.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narrows by over 15: less of the innings is unseen.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between over 6 and over 15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SRL scorecards, 383 matches, 10 seeds   |   B12   |   7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8521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92240" y="137160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board take over as the innings advances.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Wickets lost matter less and less as the innings advances.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features stay small. (innings is a data effect, see limits.)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interaction, in cricket terms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SRL scorecards, 383 matches, 10 seeds   |   B12   |   8</a:t>
            </a:r>
            <a:endParaRPr lang="en-US" sz="1000" dirty="0"/>
          </a:p>
        </p:txBody>
      </p:sp>
      <p:pic>
        <p:nvPicPr>
          <p:cNvPr id="5" name="Image 0" descr="../results/plots/dependence_over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754880" cy="3383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0" y="137160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runs_so_far x wickets_down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pair at over 15: 1.36 runs.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pair excluding innings: the same score is worth more with wickets in hand, because batters still to come can accelerate.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trust the explanation?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SRL scorecards, 383 matches, 10 seeds   |   B12   |   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Seed-to-seed rank agreement of importances: 0.92, 0.94, 0.96, 0.81 (overs 6, 10, 12, 15)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with permutation importance: rank agreement 0.95, 0.74, 0.93, 0.9 (rho)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the model, not cricket: no causal claims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SRL scorecards, 383 matches, 10 seeds   |   B12   |   10</a:t>
            </a:r>
            <a:endParaRPr lang="en-US" sz="1000" dirty="0"/>
          </a:p>
        </p:txBody>
      </p:sp>
      <p:pic>
        <p:nvPicPr>
          <p:cNvPr id="5" name="Image 0" descr="../results/plots/error_by_wick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937760" cy="3383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0" y="137160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the 100 worst misses are chases that ended early.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explanation points to what it can see, never to the overs not yet bowled.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listed in results/failure_cases.csv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stress tests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SRL scorecards, 383 matches, 10 seeds   |   B12   |  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training data: RMSE rises by about 3.8 runs at over 6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corrupted inputs add 0.7 to 3.1 runs of RMSE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scores are censored, so innings is a top feature for data reasons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our own model; B1/B2 model files still needed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B1 at over 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SRL scorecards, 383 matches, 10 seeds   |   B12   |   12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0" y="137160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766 over-6 rows, out-of-fold.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B1 minus ours, 95% bootstrap: [0.92, 2.04] runs.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range covers truth 90.7% of the time.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B1 features and validation unknown.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SRL scorecards, 383 matches, 10 seeds   |   B12   |   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B1 and B2 for model files and an agreed match ID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B1/B2 model files so SHAP explains their models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chase target as a feature to remove the censoring effect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Handover: feature_importance.csv + results/README.md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B12 - What the Model Is Looking At</dc:title>
  <dc:subject>PptxGenJS Presentation</dc:subject>
  <dc:creator>PptxGenJS</dc:creator>
  <cp:lastModifiedBy>PptxGenJS</cp:lastModifiedBy>
  <cp:revision>1</cp:revision>
  <dcterms:created xsi:type="dcterms:W3CDTF">2026-10-08T09:08:34Z</dcterms:created>
  <dcterms:modified xsi:type="dcterms:W3CDTF">2026-10-08T09:08:34Z</dcterms:modified>
</cp:coreProperties>
</file>